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linicaltrials.gov/study/NCT05318469" TargetMode="External"/><Relationship Id="rId3" Type="http://schemas.openxmlformats.org/officeDocument/2006/relationships/hyperlink" Target="https://ascopubs.org/doi/10.1200/JCO.2025.43.16_suppl.e13146" TargetMode="External"/><Relationship Id="rId1" Type="http://schemas.openxmlformats.org/officeDocument/2006/relationships/image" Target="../media/Slide-1-image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7554852/" TargetMode="External"/><Relationship Id="rId4" Type="http://schemas.openxmlformats.org/officeDocument/2006/relationships/hyperlink" Target="https://accscience.com/journal/TD/1/2/10.36922/td.v1i2.196" TargetMode="External"/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hyperlink" Target="https://pmc.ncbi.nlm.nih.gov/articles/PMC7925581/" TargetMode="External"/><Relationship Id="rId6" Type="http://schemas.openxmlformats.org/officeDocument/2006/relationships/hyperlink" Target="https://pmc.ncbi.nlm.nih.gov/articles/PMC12024911/" TargetMode="External"/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hyperlink" Target="https://pmc.ncbi.nlm.nih.gov/articles/PMC7925581/" TargetMode="External"/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linicaltrials.gov/study/NCT05318469" TargetMode="External"/><Relationship Id="rId3" Type="http://schemas.openxmlformats.org/officeDocument/2006/relationships/hyperlink" Target="https://gatewaycr.org/for-researchers/clinical-trials/a-phase-i-ii-study-evaluating-the-safety-and-efficacy-of-ivermectin-in-combination-with-balstilimab" TargetMode="External"/><Relationship Id="rId1" Type="http://schemas.openxmlformats.org/officeDocument/2006/relationships/image" Target="../media/Slide-5-image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scopubs.org/doi/10.1200/JCO.2025.43.16_suppl.e13146" TargetMode="External"/><Relationship Id="rId4" Type="http://schemas.openxmlformats.org/officeDocument/2006/relationships/hyperlink" Target="https://aacrjournals.org/cancerres/article/84/9_Supplement/PO1-19-07/743279/" TargetMode="External"/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articles/PMC9323351/" TargetMode="External"/><Relationship Id="rId3" Type="http://schemas.openxmlformats.org/officeDocument/2006/relationships/hyperlink" Target="https://pubmed.ncbi.nlm.nih.gov/28057932/" TargetMode="External"/><Relationship Id="rId1" Type="http://schemas.openxmlformats.org/officeDocument/2006/relationships/image" Target="../media/Slide-7-image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8349356/" TargetMode="External"/><Relationship Id="rId4" Type="http://schemas.openxmlformats.org/officeDocument/2006/relationships/hyperlink" Target="https://www.nature.com/articles/s41467-020-15364-z" TargetMode="External"/><Relationship Id="rId5" Type="http://schemas.openxmlformats.org/officeDocument/2006/relationships/hyperlink" Target="https://pmc.ncbi.nlm.nih.gov/articles/PMC6420824/" TargetMode="External"/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hyperlink" Target="https://pmc.ncbi.nlm.nih.gov/articles/PMC6705396/" TargetMode="External"/><Relationship Id="rId6" Type="http://schemas.openxmlformats.org/officeDocument/2006/relationships/hyperlink" Target="https://pmc.ncbi.nlm.nih.gov/articles/PMC12221127/" TargetMode="External"/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hyperlink" Target="https://pubmed.ncbi.nlm.nih.gov/28057932/" TargetMode="External"/><Relationship Id="rId5" Type="http://schemas.openxmlformats.org/officeDocument/2006/relationships/hyperlink" Target="https://pmc.ncbi.nlm.nih.gov/articles/PMC6705396/" TargetMode="External"/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7925581/" TargetMode="External"/><Relationship Id="rId4" Type="http://schemas.openxmlformats.org/officeDocument/2006/relationships/hyperlink" Target="https://pmc.ncbi.nlm.nih.gov/articles/PMC12024911/" TargetMode="External"/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scopubs.org/doi/10.1200/JCO.2025.43.16_suppl.e13146" TargetMode="External"/><Relationship Id="rId3" Type="http://schemas.openxmlformats.org/officeDocument/2006/relationships/hyperlink" Target="https://pmc.ncbi.nlm.nih.gov/articles/PMC7554852/" TargetMode="External"/><Relationship Id="rId1" Type="http://schemas.openxmlformats.org/officeDocument/2006/relationships/image" Target="../media/Slide-12-image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hyperlink" Target="https://pmc.ncbi.nlm.nih.gov/articles/PMC9323351/" TargetMode="External"/><Relationship Id="rId7" Type="http://schemas.openxmlformats.org/officeDocument/2006/relationships/hyperlink" Target="https://pmc.ncbi.nlm.nih.gov/articles/PMC6705396/" TargetMode="External"/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dpi.com/2072-6694/15/1/104/pdf" TargetMode="External"/><Relationship Id="rId3" Type="http://schemas.openxmlformats.org/officeDocument/2006/relationships/hyperlink" Target="https://pmc.ncbi.nlm.nih.gov/articles/PMC8870053/" TargetMode="External"/><Relationship Id="rId1" Type="http://schemas.openxmlformats.org/officeDocument/2006/relationships/image" Target="../media/Slide-14-image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914400"/>
            <a:ext cx="2011680" cy="32004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IMMUNOTHERAPY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PD-L1 Kinetics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Immune Priming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Inverting Patient Selection for Checkpoint Inhibitors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PD-L1-Negative Metastatic Triple-Negative Breast Cancer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297680"/>
            <a:ext cx="9144000" cy="84124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NCT05318469 Phase I/II Trial  |  Cedars-Sinai Medical Center  |  2025 ASCO Preliminary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ClinicalTrials.gov NCT05318469</a:t>
            </a:r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ASCO 2025 Abstract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Triple-Negative Breast Cancer Challenge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14630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46304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80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breast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diagnoses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005840"/>
            <a:ext cx="1920240" cy="14630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005840"/>
            <a:ext cx="54864" cy="1463040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143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4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&lt;18 mo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8892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OS with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metastatic chemo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1920240" cy="14630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54864" cy="1463040"/>
          </a:xfrm>
          <a:prstGeom prst="rect">
            <a:avLst/>
          </a:prstGeom>
          <a:solidFill>
            <a:srgbClr val="944454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43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44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mTNBC is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negative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1005840"/>
            <a:ext cx="1920240" cy="14630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005840"/>
            <a:ext cx="54864" cy="1463040"/>
          </a:xfrm>
          <a:prstGeom prst="rect">
            <a:avLst/>
          </a:prstGeom>
          <a:solidFill>
            <a:srgbClr val="FFC553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1143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5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08660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 ICI benefit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PD-L1-neg patients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80360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9728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Paradigm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5800" y="3291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TNBC lacks ER, PR, and HER2 targets that revolutionized other breast cancer subtypes.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IMpassion130: Atezolizumab + nab-paclitaxel improved PFS only in PD-L1-positive patients (ORR 56% vs 46%).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PD-L1-negative patients (60% of mTNBC) were excluded from checkpoint inhibitor therapy.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No target expression = no therapeutic benefit from PD-1/PD-L1 blockade.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PMC7554852</a:t>
            </a:r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Tumor Discovery 2022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Immune Priming: Converting Cold Tumors Hot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"Hot" Tumors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5087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CD8+ T-cell infiltration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IFN-gamma signaling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expressed (adaptive resistance)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checkpoint inhibitors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54864" cy="1828800"/>
          </a:xfrm>
          <a:prstGeom prst="rect">
            <a:avLst/>
          </a:prstGeom>
          <a:solidFill>
            <a:srgbClr val="D8431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1430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4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"Cold" Tumors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83480" y="15087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immune infiltration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inflammatory signatures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negative (no immune pressure)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ICI therapy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46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2186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Immunogenic Cell Death (ICD) as Priming Strategy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85800" y="3611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 triggers release of DAMPs (calreticulin, ATP, HMGB1) that activate dendritic cells, drive tumor antigen uptake, and prime cytotoxic T lymphocytes. This converts immunologically cold tumors into inflamed microenvironments with dense T-cell infiltration.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PMC7925581</a:t>
            </a:r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PMC12024911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Ivermectin: A Surprising Immune Primer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19202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920240"/>
          </a:xfrm>
          <a:prstGeom prst="rect">
            <a:avLst/>
          </a:prstGeom>
          <a:solidFill>
            <a:srgbClr val="20808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88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ICD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Ivermectin induces mitochondrial dysfunction + ER stress in tumor cells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63240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808D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37560" y="1005840"/>
            <a:ext cx="2606040" cy="19202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005840"/>
            <a:ext cx="54864" cy="1920240"/>
          </a:xfrm>
          <a:prstGeom prst="rect">
            <a:avLst/>
          </a:prstGeom>
          <a:solidFill>
            <a:srgbClr val="FFC55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1887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188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 Release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20440" y="1691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Calreticulin, ATP, HMGB1 released as danger signals to immune system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943600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808D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217920" y="1005840"/>
            <a:ext cx="2606040" cy="19202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005840"/>
            <a:ext cx="54864" cy="192024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1887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1188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T-Cell Infiltration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0" y="1691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 increase in CD8+ T-cells converting cold tumors hot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200400"/>
            <a:ext cx="8229600" cy="118872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3200400"/>
            <a:ext cx="54864" cy="1188720"/>
          </a:xfrm>
          <a:prstGeom prst="rect">
            <a:avLst/>
          </a:prstGeom>
          <a:solidFill>
            <a:srgbClr val="20808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33756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3310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 Evidence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8580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breast cancer mouse models, ivermectin + anti-PD-1 antibodies produced synergistic antitumor effects exceeding either agent alone. Tumors showed dramatic increases in CD8+ T-cell infiltration, validating the immune priming hypothesis.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PMC7925581 (Ivermectin converts cold tumors hot)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NCT05318469 Trial: Design &amp; Rationale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329184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Design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I/II at Cedars-Sinai Medical Center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Ivermectin: 30/45/60 mg oral, 3 days on / 4 days off,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3x per 21-day cycle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Balstilimab: 450 mg IV on day 1 of each cycle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35 cycles (~2 years) or until progression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3+3 dose escalation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54864" cy="3291840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Selection Gambit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deliberately targets PD-L1-negative patients (CPS &lt; 1)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contradicts conventional ICI trial design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Ivermectin converts cold tumors hot, making PD-L1 axis therapeutically relevant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negativity = not yet pressured, not inherently resistant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C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treated as dynamic pharmacodynamic biomarker, not static selection marker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ClinicalTrials.gov</a:t>
            </a:r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Gateway for Cancer Research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Clinical Results: 2025 ASCO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137160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37160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80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005840"/>
            <a:ext cx="1920240" cy="137160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005840"/>
            <a:ext cx="54864" cy="1371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097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88920" y="16002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4-Month Clinical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1920240" cy="137160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54864" cy="1371600"/>
          </a:xfrm>
          <a:prstGeom prst="rect">
            <a:avLst/>
          </a:prstGeom>
          <a:solidFill>
            <a:srgbClr val="FFC553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097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5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 mo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PFS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(95% CI 1.6–NR)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005840"/>
            <a:ext cx="1920240" cy="137160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005840"/>
            <a:ext cx="54864" cy="1371600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1097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4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086600" y="16002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Prior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Therapy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51760"/>
            <a:ext cx="8229600" cy="178308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651760"/>
            <a:ext cx="54864" cy="1783080"/>
          </a:xfrm>
          <a:prstGeom prst="rect">
            <a:avLst/>
          </a:prstGeom>
          <a:solidFill>
            <a:srgbClr val="FFC553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8892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51560" y="2761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Significance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85800" y="3154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evaluable patients from Phase I (heavily pretreated, median 5 prior lines)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had received prior checkpoint inhibitors; 67% were baseline PD-L1-positive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response rate in this population: &lt;10% with single-agent chemo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Acceptable profile. Only 1 SAE (disease-related G3 anemia). No high-grade neurotoxicity.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FFC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in ICI-pretreated patients supports continued development in PD-L1-neg expansion cohort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ASCO 2025 Abstract e13146</a:t>
            </a:r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AACR PO1-19-07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C55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solidFill>
            <a:srgbClr val="FFC55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PD-L1 Induction Velocity as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Predictive Biomarker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1280160"/>
          </a:xfrm>
          <a:prstGeom prst="rect">
            <a:avLst/>
          </a:prstGeom>
          <a:solidFill>
            <a:srgbClr val="115058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74520"/>
            <a:ext cx="54864" cy="1280160"/>
          </a:xfrm>
          <a:prstGeom prst="rect">
            <a:avLst/>
          </a:prstGeom>
          <a:solidFill>
            <a:srgbClr val="FFC55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659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velocity of PD-L1 upregulation during early treatment cycles predicts therapeutic benefit more accurately than either static baseline expression or absolute post-treatment PD-L1 levels.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3931920" cy="109728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383280"/>
            <a:ext cx="54864" cy="10972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A: Rapid Inducer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CPS: 0 → After 2 cycles: CPS 1.2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0.6 units/cycle → Predicted ORR &gt; 30%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383280"/>
            <a:ext cx="3931920" cy="109728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3383280"/>
            <a:ext cx="54864" cy="109728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4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B: Slow Inducer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CPS: 0 → After 2 cycles: CPS 0.4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0.2 units/cycle → Predicted ORR &lt; 10%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PMC9323351</a:t>
            </a:r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PubMed 28057932 (Dynamic vs Static Biomarkers)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Mechanistic Basis: Why Velocity Matters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463040" cy="73152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463040" cy="54864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43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188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7A8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057400" y="1051560"/>
            <a:ext cx="1463040" cy="73152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57400" y="1051560"/>
            <a:ext cx="1463040" cy="54864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1143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JAK1/JAK2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Phosphorylation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1188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7A8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94760" y="1051560"/>
            <a:ext cx="1463040" cy="73152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94760" y="1051560"/>
            <a:ext cx="1463040" cy="54864"/>
          </a:xfrm>
          <a:prstGeom prst="rect">
            <a:avLst/>
          </a:prstGeom>
          <a:solidFill>
            <a:srgbClr val="BCE2E7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1143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Dimerization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57800" y="1188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7A88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32120" y="1051560"/>
            <a:ext cx="1463040" cy="73152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32120" y="1051560"/>
            <a:ext cx="1463040" cy="54864"/>
          </a:xfrm>
          <a:prstGeom prst="rect">
            <a:avLst/>
          </a:prstGeom>
          <a:solidFill>
            <a:srgbClr val="BCE2E7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1143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Translocation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95160" y="1188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7A88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269480" y="1051560"/>
            <a:ext cx="1463040" cy="73152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69480" y="1051560"/>
            <a:ext cx="1463040" cy="54864"/>
          </a:xfrm>
          <a:prstGeom prst="rect">
            <a:avLst/>
          </a:prstGeom>
          <a:solidFill>
            <a:srgbClr val="FFC553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1143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057400"/>
            <a:ext cx="3931920" cy="23774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057400"/>
            <a:ext cx="54864" cy="237744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Determines Induction Speed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25603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Chromatin accessibility at PD-L1 promoter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Histone acetylation status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HDAC2 expression (required for IFN signaling)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NPM1 constitutive activation at PD-L1 locus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methylation at promoter region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Post-transcriptional mRNA stability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057400"/>
            <a:ext cx="3931920" cy="23774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057400"/>
            <a:ext cx="54864" cy="2377440"/>
          </a:xfrm>
          <a:prstGeom prst="rect">
            <a:avLst/>
          </a:prstGeom>
          <a:solidFill>
            <a:srgbClr val="FFC553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194560"/>
            <a:ext cx="228600" cy="2286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30352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Biomarker Insight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983480" y="2560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PD-L1 induction indicates global IFN pathway competence. Bottlenecks that slow PD-L1 upregulation also affect: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983480" y="31546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 class I upregulation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Chemokine production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IFN-stimulated gene expression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presentation efficiency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PMC8349356 (HDAC2)</a:t>
            </a:r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Nature Comms 2020 (NPM1)</a:t>
            </a:r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PMC6420824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Stratification Thresholds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00584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Inducer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0.5 CPS/cycle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ICI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84048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ORR &gt; 30%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66560" y="1234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Intact IFN machinery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286000"/>
            <a:ext cx="54864" cy="1005840"/>
          </a:xfrm>
          <a:prstGeom prst="rect">
            <a:avLst/>
          </a:prstGeom>
          <a:solidFill>
            <a:srgbClr val="FFC55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016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Zone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28016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– 0.5 CPS/cycle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84048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at Cycle 2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84048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via liquid biopsy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766560" y="2468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response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" y="3520440"/>
            <a:ext cx="54864" cy="1005840"/>
          </a:xfrm>
          <a:prstGeom prst="rect">
            <a:avLst/>
          </a:prstGeom>
          <a:solidFill>
            <a:srgbClr val="D8431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5760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8016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4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Sluggish / Flat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280160" y="3977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0.3 CPS/cycle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84048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ICI, pivot to ADC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3840480" y="3977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ORR &lt; 5%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76656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transcriptional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Thresholds are provisional estimates requiring empirical validation. Optimal cutpoints may vary by assay platform and treatment regimen.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PMC6705396</a:t>
            </a:r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PMC12221127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Adaptive Decision-Making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508760" cy="91440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2048256"/>
            <a:ext cx="1508760" cy="54864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34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417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7A8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57400" y="1188720"/>
            <a:ext cx="1508760" cy="91440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2048256"/>
            <a:ext cx="1508760" cy="54864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12" name="Text 10"/>
          <p:cNvSpPr/>
          <p:nvPr/>
        </p:nvSpPr>
        <p:spPr>
          <a:xfrm>
            <a:off x="2057400" y="1234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57400" y="1508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Priming Begins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1417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7A8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0480" y="1188720"/>
            <a:ext cx="1508760" cy="91440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2048256"/>
            <a:ext cx="1508760" cy="54864"/>
          </a:xfrm>
          <a:prstGeom prst="rect">
            <a:avLst/>
          </a:prstGeom>
          <a:solidFill>
            <a:srgbClr val="FFC553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1234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15–21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0" y="1508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On-Treatment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1417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7A8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23560" y="1188720"/>
            <a:ext cx="1508760" cy="91440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23560" y="2048256"/>
            <a:ext cx="1508760" cy="54864"/>
          </a:xfrm>
          <a:prstGeom prst="rect">
            <a:avLst/>
          </a:prstGeom>
          <a:solidFill>
            <a:srgbClr val="FFC553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1234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23560" y="1508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1417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7A88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06640" y="1188720"/>
            <a:ext cx="1508760" cy="91440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06640" y="2048256"/>
            <a:ext cx="1508760" cy="54864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1234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2–3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06640" y="1508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468880"/>
            <a:ext cx="3931920" cy="19202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2468880"/>
            <a:ext cx="54864" cy="192024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06040"/>
            <a:ext cx="228600" cy="2286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05840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Adaptive Approach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85800" y="29260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non-responders at 3 weeks (not 8–12 weeks)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months of ineffective treatment + toxicity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1 biopsy vs. months of wasted ICI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selection from binary to continuous learning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754880" y="2468880"/>
            <a:ext cx="3931920" cy="19202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754880" y="2468880"/>
            <a:ext cx="54864" cy="1920240"/>
          </a:xfrm>
          <a:prstGeom prst="rect">
            <a:avLst/>
          </a:prstGeom>
          <a:solidFill>
            <a:srgbClr val="A84B2F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606040"/>
            <a:ext cx="228600" cy="22860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303520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Static Approach Limits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4983480" y="29260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timepoint, pre-treatment only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treat or exclude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identification of non-responders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PD-L1 as fixed trait (like HER2) rather than dynamic response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PubMed 28057932</a:t>
            </a:r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PMC6705396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Immunogenic Cell Death: Timing Alignment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30352"/>
          </a:xfrm>
          <a:prstGeom prst="rect">
            <a:avLst/>
          </a:prstGeom>
          <a:solidFill>
            <a:srgbClr val="132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530352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 Release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4–24 hours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097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Calreticulin (4–8h), ATP, HMGB1 (12–24h)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8229600" cy="530352"/>
          </a:xfrm>
          <a:prstGeom prst="rect">
            <a:avLst/>
          </a:prstGeom>
          <a:solidFill>
            <a:srgbClr val="0E233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09928"/>
            <a:ext cx="54864" cy="530352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55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Maturation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17556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24–48 hours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17556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Costimulatory molecule upregulation, migration to lymph nodes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68296"/>
            <a:ext cx="8229600" cy="530352"/>
          </a:xfrm>
          <a:prstGeom prst="rect">
            <a:avLst/>
          </a:prstGeom>
          <a:solidFill>
            <a:srgbClr val="132E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368296"/>
            <a:ext cx="54864" cy="530352"/>
          </a:xfrm>
          <a:prstGeom prst="rect">
            <a:avLst/>
          </a:prstGeom>
          <a:solidFill>
            <a:srgbClr val="FFC55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4140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T-Cell Priming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241401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241401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T-cell priming in tumor-draining lymph nodes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26664"/>
            <a:ext cx="8229600" cy="530352"/>
          </a:xfrm>
          <a:prstGeom prst="rect">
            <a:avLst/>
          </a:prstGeom>
          <a:solidFill>
            <a:srgbClr val="0E2330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026664"/>
            <a:ext cx="54864" cy="530352"/>
          </a:xfrm>
          <a:prstGeom prst="rect">
            <a:avLst/>
          </a:prstGeom>
          <a:solidFill>
            <a:srgbClr val="FFC55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0723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T-Cell Infiltration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06040" y="30723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days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307238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+ trafficking of tumor-specific CTLs to tumor site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85032"/>
            <a:ext cx="8229600" cy="530352"/>
          </a:xfrm>
          <a:prstGeom prst="rect">
            <a:avLst/>
          </a:prstGeom>
          <a:solidFill>
            <a:srgbClr val="132E3A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685032"/>
            <a:ext cx="54864" cy="530352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7307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Infiltration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06040" y="37307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 days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0" y="37307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cycle: ICD to maximal tumor infiltration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703320"/>
            <a:ext cx="54864" cy="960120"/>
          </a:xfrm>
          <a:prstGeom prst="rect">
            <a:avLst/>
          </a:prstGeom>
          <a:solidFill>
            <a:srgbClr val="FFC553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94760"/>
            <a:ext cx="228600" cy="2286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005840" y="3767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Dosing Schedule Alignment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85800" y="4069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3-days-on / 4-days-off ivermectin schedule aligns with ICD kinetics: first exposure triggers DAMP release, the break allows DC maturation and T-cell priming, and the second exposure coincides with first-wave T-cell arrival at the tumor.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PMC7925581</a:t>
            </a:r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PMC12024911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SHIFT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Inverting Patient Selection Logic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931920" cy="164592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54864" cy="164592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4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Logic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negative = no target = exclude from ICI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measurement at single timepoint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decision: treat or exclude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0" y="20116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C553"/>
                </a:solidFill>
              </a:rPr>
              <a:t>→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3931920" cy="164592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554480"/>
            <a:ext cx="54864" cy="16459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Logic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0116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negative = not yet pressured = ideal for priming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velocity after immune priming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decision: continue or pivot early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115058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383280"/>
            <a:ext cx="54864" cy="914400"/>
          </a:xfrm>
          <a:prstGeom prst="rect">
            <a:avLst/>
          </a:prstGeom>
          <a:solidFill>
            <a:srgbClr val="FFC55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74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mTNBC patients are PD-L1 negative and currently excluded from ICI. If 20–30% of this population shows high induction velocities, this would expand the treatable population by thousands of patients annually.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ASCO 2025 Abstract</a:t>
            </a:r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PMC7554852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Technical Challenges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14630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463040"/>
          </a:xfrm>
          <a:prstGeom prst="rect">
            <a:avLst/>
          </a:prstGeom>
          <a:solidFill>
            <a:srgbClr val="A84B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Validation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5544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and 0.5 CPS/cycle are theoretical estimates. Optimal cutpoints may differ by population, regimen, and PD-L1 assay platform.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743200"/>
            <a:ext cx="3931920" cy="14630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743200"/>
            <a:ext cx="54864" cy="1463040"/>
          </a:xfrm>
          <a:prstGeom prst="rect">
            <a:avLst/>
          </a:prstGeom>
          <a:solidFill>
            <a:srgbClr val="A84B2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803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Variability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32918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CPS shows inter-observer variability (κ 0.6–0.8). Error compounds when calculating differences between timepoints.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1005840"/>
            <a:ext cx="3931920" cy="14630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1005840"/>
            <a:ext cx="54864" cy="1463040"/>
          </a:xfrm>
          <a:prstGeom prst="rect">
            <a:avLst/>
          </a:prstGeom>
          <a:solidFill>
            <a:srgbClr val="A84B2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430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 Logistics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937760" y="15544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metastatic patients have bone-predominant or inaccessible disease. ctDNA/IFN-stimulated gene signatures may serve as surrogates.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743200"/>
            <a:ext cx="3931920" cy="14630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743200"/>
            <a:ext cx="54864" cy="1463040"/>
          </a:xfrm>
          <a:prstGeom prst="rect">
            <a:avLst/>
          </a:prstGeom>
          <a:solidFill>
            <a:srgbClr val="A84B2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8803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Heterogeneity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37760" y="32918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varies within tumors. Serial biopsies at different locations may reflect spatial rather than temporal changes.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PMC9323351</a:t>
            </a:r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PMC6705396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TNBC: Generalizable Framework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0" cy="14630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46304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Tumor Populations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Microsatellite stable colorectal cancer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Pancreatic ductal adenocarcinoma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ovarian cancer subtypes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926080" cy="146304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60720" y="1005840"/>
            <a:ext cx="54864" cy="1463040"/>
          </a:xfrm>
          <a:prstGeom prst="rect">
            <a:avLst/>
          </a:prstGeom>
          <a:solidFill>
            <a:srgbClr val="FFC553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Priming Agents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89320" y="1508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Oncolytic viruses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therapy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PRR agonists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ICD inducers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1280160"/>
          </a:xfrm>
          <a:prstGeom prst="rect">
            <a:avLst/>
          </a:prstGeom>
          <a:solidFill>
            <a:srgbClr val="115058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" cy="128016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34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Velocity Principle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combination where one agent creates the target for another faces the same question: which baseline-cold tumors can be successfully converted? The velocity framework provides a generalizable answer: measure the rate of checkpoint upregulation following immune priming, use that rate to predict benefit, and implement adaptive strategies based on early dynamics.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3159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beyond PD-1/PD-L1: CTLA-4, LAG-3, and other immune regulatory pathways. Measurement tools may vary (flow cytometry, imaging, molecular profiling) but the core concept remains constant.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MDPI Cancers 2022</a:t>
            </a:r>
            <a:pPr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PMC8870053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C55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86868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188720"/>
            <a:ext cx="411480" cy="41148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1430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Over Static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4630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induction velocity during immune priming predicts ICI benefit more accurately than single baseline measurements.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86868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03120"/>
            <a:ext cx="54864" cy="868680"/>
          </a:xfrm>
          <a:prstGeom prst="rect">
            <a:avLst/>
          </a:prstGeom>
          <a:solidFill>
            <a:srgbClr val="FFC553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240280"/>
            <a:ext cx="411480" cy="411480"/>
          </a:xfrm>
          <a:prstGeom prst="rect">
            <a:avLst/>
          </a:prstGeom>
          <a:solidFill>
            <a:srgbClr val="FFC55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1945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 Selection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25146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PD-L1 negativity may identify optimal candidates for immune priming combos, not patients to exclude.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8229600" cy="868680"/>
          </a:xfrm>
          <a:prstGeom prst="rect">
            <a:avLst/>
          </a:prstGeom>
          <a:solidFill>
            <a:srgbClr val="132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54680"/>
            <a:ext cx="54864" cy="868680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291840"/>
            <a:ext cx="411480" cy="411480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32461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Treatment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35661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additional on-treatment biopsy enables early discontinuation for non-responders and confident continuation for rapid inducers.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 requires collaboration between clinicians, pathologists, biostatisticians,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patients. The preliminary signals from NCT05318469 provide reason for cautious optimism.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PD-L1 Kinetics: Inverting Patient Selection for Checkpoint Inhibitors</dc:title>
  <dc:subject>PptxGenJS Presentation</dc:subject>
  <dc:creator>White Paper Analysis</dc:creator>
  <cp:lastModifiedBy>White Paper Analysis</cp:lastModifiedBy>
  <cp:revision>1</cp:revision>
  <dcterms:created xsi:type="dcterms:W3CDTF">2026-02-27T20:45:46Z</dcterms:created>
  <dcterms:modified xsi:type="dcterms:W3CDTF">2026-02-27T20:45:46Z</dcterms:modified>
</cp:coreProperties>
</file>