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PD-L1 Kinetics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Immune Priming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Patient Selection for Checkpoint Inhibitors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4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PD-L1-Negative Metastatic Triple-Negative Breast Cancer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4160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analysis of NCT05318469 Phase I/II Trial  •  Ivermectin + Balstilimab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mTNBC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46888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
</a:t>
            </a:r>
            <a:endParaRPr lang="en-US" sz="3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breast cancers are TNBC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108960" y="1005840"/>
            <a:ext cx="246888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10058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&lt;18 mo
</a:t>
            </a:r>
            <a:endParaRPr lang="en-US" sz="3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OS with chemo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2468880" cy="1005840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058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
</a:t>
            </a:r>
            <a:endParaRPr lang="en-US" sz="3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PD-L1 negative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8321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Immunotherapy Gap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IMpassion130 trial: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 + nab-paclitaxel improved PFS in PD-L1-positive mTNBC — ORR 56% vs 46%. But PD-L1-negative patients (60% of all mTNBC) showed </a:t>
            </a:r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benefit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checkpoint blockade.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clinical paradigm: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negativity → exclusion from checkpoint inhibitor therapy. The logic appeared straightforward — if the tumor doesn't express the target molecule, blocking PD-1/PD-L1 should confer no benefit.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white paper challenges that paradigm.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Immune Landscape of TNBC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Tumor Microenvironment Heterogeneity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Hot Tumors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CTL infiltration • Robust IFN-γ signaling • High TIL density • PD-L1+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Cold Tumors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immune infiltrate • Absent inflammatory signatures • Low TIL • PD-L1−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Impact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≥30% → significantly longer survival vs. minimal infiltration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IFN-γ → PD-L1 Cascade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57276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93208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infiltrate tumor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82896" y="1828800"/>
            <a:ext cx="0" cy="310896"/>
          </a:xfrm>
          <a:prstGeom prst="line">
            <a:avLst/>
          </a:prstGeom>
          <a:noFill/>
          <a:ln w="19050">
            <a:solidFill>
              <a:srgbClr val="A7F3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139696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93208" y="2139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secrete IFN-γ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82896" y="2395728"/>
            <a:ext cx="0" cy="310896"/>
          </a:xfrm>
          <a:prstGeom prst="line">
            <a:avLst/>
          </a:prstGeom>
          <a:noFill/>
          <a:ln w="19050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706624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93208" y="2706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JAK-STAT signaling activates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82896" y="2962656"/>
            <a:ext cx="0" cy="310896"/>
          </a:xfrm>
          <a:prstGeom prst="line">
            <a:avLst/>
          </a:prstGeom>
          <a:noFill/>
          <a:ln w="19050">
            <a:solidFill>
              <a:srgbClr val="A7F3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273552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93208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transcription upregulates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82896" y="3529584"/>
            <a:ext cx="0" cy="310896"/>
          </a:xfrm>
          <a:prstGeom prst="line">
            <a:avLst/>
          </a:prstGeom>
          <a:noFill/>
          <a:ln w="19050">
            <a:solidFill>
              <a:srgbClr val="A7F3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840480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93208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immune evasion occurs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 &gt; 0.4 between TIL density and PD-L1 expression across TNBC cohorts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Immunogenic Cell Death as a Priming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Cold Tumors to Hot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Calreticulin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Translocates to cell surface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'Eat me' signal for dendritic cells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Release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Attracts immune cells to tumor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purinergic signaling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265176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HMGB1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pattern recognition receptors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antigen-presenting cells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832104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803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Ivermectin: An Unexpected Immunotherapy Sensitizer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FDA-approved antiparasitic repurposed as immunotherapy sensitizer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ICD via mitochondrial dysfunction and ER stress → robust DAMP release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TNBC models: dramatic CD8+ T-cell infiltration, cold→hot conversion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 + anti-PD-1: synergistic antitumor effects exceeding either agent alone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NCT05318469: Trial Design &amp; Rationale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I/II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 (oral) + Balstilimab (IV)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3794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99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 Doses: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20240" y="20299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45 / 60 mg (3+3 escalation)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3794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054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25054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ON → 4 days OFF × 3 per cycle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43784"/>
            <a:ext cx="3794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809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Balstilimab: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20240" y="29809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mg IV, Day 1 of each 21-day cycle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3794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34564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35 cycles (~2 years)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794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Target: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20240" y="39319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PD-L1-negative patients (CPS &lt; 1)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1005840"/>
            <a:ext cx="4023360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Paradigm Shift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deliberately targets PD-L1-negative patients — directly contradicting conventional trial design. Baseline PD-L1 negativity is reframed: not as a marker of resistance, but as a tumor that hasn't yet experienced sufficient immune pressure.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834640"/>
            <a:ext cx="402336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ICD Timeline → PD-L1 Detection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64008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37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0-24h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50408" y="33375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release (calreticulin, ATP, HMGB1)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657600"/>
            <a:ext cx="64008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50408" y="3657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maturation, costimulatory upregulation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977640"/>
            <a:ext cx="64008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77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 days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50408" y="3977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T-cell priming &amp; clonal expansion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297680"/>
            <a:ext cx="64008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297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7-10 days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50408" y="4297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tumor infiltration by primed CTLs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Clinical Results — ASCO 2025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97764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evaluable patients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Benefit Rate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8105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 months (95% CI 15.3–91.7%)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240280"/>
            <a:ext cx="39776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mo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PFS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3044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1.6–NR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39776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9204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Lines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044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2–5, range 1–7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538728"/>
            <a:ext cx="8321040" cy="12618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630168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for These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95020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had received prior checkpoint inhibitors  •  67% were PD-L1 positive at baseline  •  Heavily pretreated (median 5 prior lines)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chemo ORR typically &lt;10% in this refractory setting. Activity in PD-L1+ and CPI-pretreated patients is particularly encouraging for the planned PD-L1-negative expansion cohort.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PD-L1 Induction Velocity as 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Biomarker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question is not whether the tumor expresses PD-L1 at baseline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whether the tumor possesses the machinery to upregulate PD-L1 in response to immune pressure.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4114800" cy="1417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 — Rapid Inducer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5935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CPS: 0  →  Cycle 2 CPS: 1.2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0.6 units/cycle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Predicted ORR &gt;30%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3520440"/>
            <a:ext cx="4114800" cy="141732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1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 — Sluggish Inducer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395935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1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CPS: 0  →  Cycle 2 CPS: 0.4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1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0.2 units/cycle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1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Predicted ORR &lt;10%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vs. Static Patient Selection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31920" cy="38404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Conventional Static Selection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PD-L1 IHC (CPS &lt; 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267712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04288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Positive?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35808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Add checkpoint inhibitor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54787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730752"/>
            <a:ext cx="352044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67328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Exclude from ICI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 of care only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960120"/>
            <a:ext cx="4206240" cy="3840480"/>
          </a:xfrm>
          <a:prstGeom prst="rect">
            <a:avLst/>
          </a:prstGeom>
          <a:solidFill>
            <a:srgbClr val="F0F9FF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Proposed Dynamic Selection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536192"/>
            <a:ext cx="38404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727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immune priming (ivermectin)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00253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139696"/>
            <a:ext cx="38404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762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15-21 biopsy / liquid biopsy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6060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743200"/>
            <a:ext cx="384048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797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ΔPD-L1 CPS per cycle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3246120"/>
            <a:ext cx="384048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27355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0.5/cycle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2735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inducer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continue + maintain ICI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ORR &gt;30%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749040"/>
            <a:ext cx="384048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7647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0.3/cycle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7764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Sluggish / flat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 ICI, pivot to ADC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ORR &lt;5%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4251960"/>
            <a:ext cx="384048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7939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0.3–0.5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42793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zone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Reassess at cycle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liquid biopsy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Mechanistic Basis of Velocity Differences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tumors induce PD-L1 rapidly while others lag?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73152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Chromatin Accessibility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chromatin at the PD-L1 promoter → rapid induction in 24-48h. Condensed chromatin → attenuated response taking days to weeks.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73152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JAK-STAT Pathway Integrity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470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 → JAK1/JAK2 → pSTAT1 → PD-L1 transcription. Defects anywhere in this cascade create sluggish inducers.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26080"/>
            <a:ext cx="73152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Transcriptional Regulators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4015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NPM1 maintains PD-L1 in 'poised' state for rapid STAT1 activation. HDAC2 required for efficient IFN signaling and PD-L1 induction.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73152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Sentinel Biomarker Effect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015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Sluggish PD-L1 kinetics also signals impaired MHC-I upregulation, reduced chemokine production, and defective IFN-stimulated gene expression.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Treatment Decision Algorithm Based on Velocity Biomarker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83210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— Slow Inducers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increase &lt; 0.3/cycle after cycle 1 → predicted ORR &lt;5%. Discontinue combination immediately, pivot to ADC monotherapy. One additional biopsy cost is trivial vs. months of ineffective immunotherapy.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83210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862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Rapid Inducers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127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increase ≥ 0.5/cycle → predicted ORR &gt;30%. Continue treatment through formal 8-12 week response assessment. Provides both prognostic information and clinical justification for ongoing therapy.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840480"/>
            <a:ext cx="83210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Impact — 60% of mTNBC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78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20-30% of PD-L1-negative patients are rapid inducers and show responses, this would expand the immunotherapy-eligible population substantially and improve outcomes for thousands annually.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Caveats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307592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Theoretical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0.3 and 0.5 CPS/cycle cutpoints require empirical validation. Optimal cutpoints may vary by patient population, regimen, or assay platform.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" y="2633472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vs. Correlation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upregulation may mark immune activation without being causally necessary. Some studies suggest tumor-cell PD-L1 promotes metastasis via non-immune pathways.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1188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" y="3959352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685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 Kinetic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baseline-to-cycle-2 comparison may miss complex patterns: rapid early induction followed by plateau, delayed-but-robust induction, or oscillating expression.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1307592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Heterogeneity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3716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expression varies dramatically within tumors. Biopsy sampling error could create apparent temporal changes that reflect spatial variation rather than true dynamics.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2633472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Beyond PD-L1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6974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PD-L1 inducibility is necessary but potentially insufficient. Defective antigen presentation, stromal barriers, or suppressive myeloid infiltration can cause failure even in rapid inducers.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657600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1208" y="4096512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7490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Beyond PD-L1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0873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PD-L1 inducibility is necessary but potentially insufficient. Defective antigen presentation, stromal barriers, or suppressive myeloid infiltration can cause failure even in rapid inducers.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Inverting the Paradigm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7818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PD-L1 negativity may identify patients whose tumors haven't yet experienced sufficient immune pressure — not intrinsic resistance.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258568"/>
            <a:ext cx="7818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 of PD-L1 upregulation after one treatment cycle predicts checkpoint benefit more accurately than any static baseline measurement.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035808"/>
            <a:ext cx="7818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NCT05318469 provides the first prospective opportunity to validate velocity thresholds in a deliberately PD-L1-negative population.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813048"/>
            <a:ext cx="7818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validated, 60% of mTNBC patients currently excluded from immunotherapy may contain the most responsive candidates for immune priming combinations.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NCT05318469  •  Ivermectin + Balstilimab  •  Cedars-Sinai Medical Center  •  Presented at ASCO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PD-L1 Kinetics in mTNBC</dc:title>
  <dc:subject>PptxGenJS Presentation</dc:subject>
  <dc:creator>PptxGenJS</dc:creator>
  <cp:lastModifiedBy>PptxGenJS</cp:lastModifiedBy>
  <cp:revision>1</cp:revision>
  <dcterms:created xsi:type="dcterms:W3CDTF">2026-02-27T20:33:20Z</dcterms:created>
  <dcterms:modified xsi:type="dcterms:W3CDTF">2026-02-27T20:33:20Z</dcterms:modified>
</cp:coreProperties>
</file>