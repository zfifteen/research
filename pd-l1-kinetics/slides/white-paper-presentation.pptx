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Rapid inducer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Cycle 1</c:v>
                  </c:pt>
                  <c:pt idx="2">
                    <c:v>Cycle 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0.6</c:v>
                </c:pt>
                <c:pt idx="2">
                  <c:v>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Sluggish inducer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Cycle 1</c:v>
                  </c:pt>
                  <c:pt idx="2">
                    <c:v>Cycle 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White paper provided by user (white-paper.md).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White paper: Abstract + Figure 1 thresholds (ΔCPS) and framing.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TNBC prevalence, metastatic OS, PD-L1-negative proportion, and baseline exclusion paradigm: white-paper.md.
- IMpassion130 context referenced in the white paper; NEJM IMpassion130 primary paper supports response-rate differences in PD-L1–positive subgroup: https://www.nejm.org/doi/full/10.1056/NEJMoa1809615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Diagram recreated from Figure 1 in the white paper (static vs dynamic selection and ΔCPS thresholds).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Hot vs cold framing, IFN-γ → JAK/STAT → PD-L1 pathway, and dynamic expression rationale are summarized in the white paper.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ICD DAMPs list and proposed 7–10 day priming timeline are described in the white paper.
- Preclinical support for ivermectin-induced ICD and T-cell infiltration: https://www.nature.com/articles/s41523-021-00229-5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Trial design and dosing schedule from the white paper (NCT05318469 section).
- Cedars‑Sinai study page (background and investigational status): https://clinicaltrials.cedars-sinai.edu/view/IIT2022-07-YUAN-IB-TNBC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Phase I preliminary safety/efficacy numbers and cohort description summarized in the white paper.
- ASCO abstract landing page: https://www.asco.org/abstracts-presentations/250156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PD-L1 as dynamic vs static biomarker; velocity hypothesis and rationale: white paper (Core Insight + Mechanistic Basis + Clinical Implications sections).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Illustrative patient A vs B example and ΔCPS framing are from the white paper.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Algorithm and thresholds (≤0.3 / 0.3–0.5 / ≥0.5 ΔCPS per cycle) are taken from Figure 1 and Clinical Implications sections of the white paper.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Variability, logistics, timing, and caveats are discussed in the Biomarker Development and Limitations sections of the white paper.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Generalization to other cold tumor types and primer strategies is proposed in the white paper (Expanding the Paradigm section).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Closing takeaways and proposed analyses are derived from the white paper’s Conclusion and Implementation sections.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7162B"/>
          </a:solidFill>
          <a:ln w="12700">
            <a:solidFill>
              <a:srgbClr val="0716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73152" cy="3474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344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PD‑L1 Kinetics After Immune Priming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patient selection for checkpoint inhibitors in PD‑L1‑negative metastatic TNBC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summary of the attached white paper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0" y="6035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27,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"/>
            <a:ext cx="10241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“PD‑L1 negative” may be the right place to look — if it can flip fast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8412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234440"/>
            <a:ext cx="73152" cy="1920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71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PD‑L1 at baseline can misclassify candidates for combination immunotherapy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10652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paper argues PD‑L1 is a *dynamic inflammatory response*, not a fixed tumor trait.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discriminating feature may be the *velocity of PD‑L1 induction* after immune priming (e.g., immunogenic cell death).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463040" cy="310896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4728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PD‑L1‑negative mTNBC receiving immune priming + PD‑1 blockade: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251960"/>
            <a:ext cx="73152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416552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1248" y="4910328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PD‑L1 CPS per cycle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51206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“rapid inducer” → likely benefit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425196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4251960"/>
            <a:ext cx="73152" cy="10972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4416552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36008" y="4910328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PD‑L1 CPS per cycle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36008" y="51206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“sluggish/flat” → stop ICI early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2519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4251960"/>
            <a:ext cx="73152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441655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0.3–0.5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430768" y="4910328"/>
            <a:ext cx="3090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PD‑L1 CPS per cycle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30768" y="512064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zone → reassess / serial blood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Conceptual framework/hypothesis. Not medical advice; investigational combinations require clinical-trial context.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metastatic TNBC has a large “PD‑L1‑negative” gap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0972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216152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41248" y="1709928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breast cancer diagnoses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triple-negative subtype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05156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051560"/>
            <a:ext cx="73152" cy="10972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216152"/>
            <a:ext cx="3227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 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36008" y="1709928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OS (metastatic)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36008" y="19202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conventional chemo (approx.)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0515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051560"/>
            <a:ext cx="73152" cy="10972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216152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30768" y="1709928"/>
            <a:ext cx="3090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PD‑L1 negative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30768" y="192024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excluded from ICI benefit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423160"/>
            <a:ext cx="10972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651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baseline PD‑L1 paradigm does: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017520"/>
            <a:ext cx="5394960" cy="1034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single pre-treatment biopsy (static IHC).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PD‑L1 like a fixed “target present / absent” attribute.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most PD‑L1‑negative mTNBC patients from checkpoint inhibitors.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white paper proposes instead: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3017520"/>
            <a:ext cx="5120640" cy="1034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immune priming to “create the target”.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PD‑L1 change early on-treatment.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patients by *induction velocity* (ΔCPS/cycle), not baseline CPS.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selection: static baseline vs dynamic kinetics (conceptual)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265176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recreation (from paper)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39496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(static)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011680"/>
            <a:ext cx="4297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2084832"/>
            <a:ext cx="407822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PD‑L1 IHC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(CPS &lt; 1 or &lt; 10)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23160" y="292608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2999232"/>
            <a:ext cx="1609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PD‑L1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3931920"/>
            <a:ext cx="4297680" cy="731520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4005072"/>
            <a:ext cx="40782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YES: add PD‑1/PD‑L1 inhibitor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(+/− immune primer)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4937760"/>
            <a:ext cx="4297680" cy="1051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5010912"/>
            <a:ext cx="407822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NO: exclude from ICI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 of care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69748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356616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51960" y="3246120"/>
            <a:ext cx="12344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0" y="3246120"/>
            <a:ext cx="0" cy="1691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1234440"/>
            <a:ext cx="4937760" cy="5074920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(dynamic kinetics)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2011680"/>
            <a:ext cx="4023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2084832"/>
            <a:ext cx="380390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immune priming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(ivermectin pulsed or equivalent)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2926080"/>
            <a:ext cx="4023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2999232"/>
            <a:ext cx="3803904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 early assessment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15–21 biopsy or liquid)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09560" y="384048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3913632"/>
            <a:ext cx="1517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PD‑L1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CPS/cycle?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4663440"/>
            <a:ext cx="402336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473659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 → Rapid inducer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continue ICI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5394960"/>
            <a:ext cx="402336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546811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0.3–0.5 → Gray zone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reassess / serial blood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6126480"/>
            <a:ext cx="402336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6199632"/>
            <a:ext cx="38039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0.3 → Sluggish/flat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 ICI early; pivot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778240" y="269748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78240" y="361188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778240" y="448056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78240" y="530352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778240" y="603504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PD‑L1 is dynamic: immune pressure → IFN‑γ → PD‑L1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21488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“Hot” vs “cold” tumors (immune contexture)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spans inflamed (“hot”) lesions with high TILs and IFN signaling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immune-desert (“cold”) lesions with low infiltration.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PD‑L1 is often higher when T cells are present and active.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3949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66160"/>
            <a:ext cx="73152" cy="26974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03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immune resistance (simplified)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041648"/>
            <a:ext cx="5074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 cells infiltrate tumor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 cells secrete IFN‑γ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Tumor cells activate JAK/STAT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PD‑L1 is upregulated at the surface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PD‑1/PD‑L1 suppresses T cell killing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23444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PD‑L1 induction pathway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12280" y="2011680"/>
            <a:ext cx="196596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08" y="208483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CD8+ T cell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2011680"/>
            <a:ext cx="1965960" cy="5943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208483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IFN‑γ signal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3063240"/>
            <a:ext cx="196596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313639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cell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3063240"/>
            <a:ext cx="1965960" cy="594360"/>
          </a:xfrm>
          <a:prstGeom prst="roundRect">
            <a:avLst/>
          </a:prstGeom>
          <a:solidFill>
            <a:srgbClr val="ECFCC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313639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JAK/STAT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4114800"/>
            <a:ext cx="1965960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6448" y="418795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PD‑L1 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5166360"/>
            <a:ext cx="196596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523951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PD‑1 block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78240" y="2304288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332720" y="260604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78240" y="3364992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32720" y="365760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4114800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470916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720840" y="6355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*ability to induce* PD‑L1 (and how fast) reflects intact interferon responsiveness.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priming strategy: immunogenic cell death (ICD)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converts “cold” tumors toward “hot”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5349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triggers release/exposure of danger signals (DAMPs) that drive dendritic-cell activation and T-cell priming: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Calreticulin ("eat me" signal)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ATP (immune-cell recruitment)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HMGB1 (pattern-recognition signaling)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proposed model, priming → T-cell infiltration → IFN‑γ → PD‑L1 induction, creating a therapeutically relevant checkpoint axis.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234440"/>
            <a:ext cx="48920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intuition (simplified)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69480" y="2194560"/>
            <a:ext cx="0" cy="42519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7184" y="2249424"/>
            <a:ext cx="164592" cy="16459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2075688"/>
            <a:ext cx="3840480" cy="51206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1854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41080" y="2185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release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184" y="3054096"/>
            <a:ext cx="164592" cy="16459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2880360"/>
            <a:ext cx="384048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990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41080" y="2990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maturation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87184" y="3858768"/>
            <a:ext cx="164592" cy="16459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3685032"/>
            <a:ext cx="3840480" cy="51206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7947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41080" y="3794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priming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87184" y="4663440"/>
            <a:ext cx="164592" cy="16459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4489704"/>
            <a:ext cx="3840480" cy="512064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599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41080" y="4599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T-cell influx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87184" y="5468112"/>
            <a:ext cx="164592" cy="16459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5294376"/>
            <a:ext cx="3840480" cy="512064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5404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wks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41080" y="54041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PD‑L1 ↑ measurable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NCT05318469: ivermectin + balstilimab as an immune-priming combination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669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25146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(Phase I/II)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5349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Site: Cedars‑Sinai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Combo: intermittent high-dose ivermectin + PD‑1 antibody balstilimab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I: 3+3 escalation (30 / 45 / 60 mg)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Cycle: 21 days; ivermectin 3 days on / 4 days off (repeated)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Balstilimab: 450 mg IV day 1 (each cycle)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977640"/>
            <a:ext cx="73152" cy="2331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148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“patient selection gambit”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453128"/>
            <a:ext cx="5349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expansion is intentionally enriched for baseline PD‑L1‑negative patients (CPS &lt; 1) — treating PD‑L1 as a pharmacodynamic marker that can be induced during therapy.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1234440"/>
            <a:ext cx="48920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21‑day cycle (illustrative)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2450592"/>
            <a:ext cx="3886200" cy="10972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331720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715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331720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6740" y="2715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49790" y="2331720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66910" y="2715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109960" y="2331720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27080" y="2715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2340864"/>
            <a:ext cx="582930" cy="310896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83930" y="2340864"/>
            <a:ext cx="582930" cy="310896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4100" y="2340864"/>
            <a:ext cx="582930" cy="310896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0175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IVM (3d on / 4d off) ×3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2240280"/>
            <a:ext cx="0" cy="566928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96912" y="21762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Balstilimab IV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246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3218688"/>
            <a:ext cx="256032" cy="182880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Ivermectin dose window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0" y="3520440"/>
            <a:ext cx="256032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34107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Balstilimab infusion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63550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the paper: use on‑treatment PD‑L1 dynamics (CPS) as a selection/stop rule in the PD‑L1‑negative expansion.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Phase I signal (preliminary; heavily pretreated cohort)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746504" cy="310896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669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2377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snapshot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53492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Treatment-related adverse events were mostly grade 1 in early reporting.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high-grade neurologic toxicities were observed (supporting the intermittent ivermectin schedule).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Immune-related AEs (e.g., colitis/pneumonitis) were reported and managed per standard protocols.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40480"/>
            <a:ext cx="73152" cy="2468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snapshot (data immature)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5349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~8 evaluable patients reported: ORR ~12.5% and 4‑month clinical benefit rate ~37.5%.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PFS ~2.5 months (OS immature).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median ~5 prior metastatic lines; many had prior checkpoint exposure.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1234440"/>
            <a:ext cx="4892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1234440"/>
            <a:ext cx="73152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1399032"/>
            <a:ext cx="459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22008" y="1892808"/>
            <a:ext cx="4599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response rate (Phase I; reported)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22008" y="2103120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approx.; early cutoff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2514600"/>
            <a:ext cx="4892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2514600"/>
            <a:ext cx="73152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2679192"/>
            <a:ext cx="459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~37.5%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22008" y="3172968"/>
            <a:ext cx="4599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4‑month clinical benefit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2008" y="3383280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estimate (wide CI)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3794760"/>
            <a:ext cx="4892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3794760"/>
            <a:ext cx="73152" cy="10972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3959352"/>
            <a:ext cx="459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22008" y="4453128"/>
            <a:ext cx="4599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prior metastatic lines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22008" y="4663440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pretreated cohort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5166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in the paper: early activity in a refractory cohort supports moving into the PD‑L1‑negative expansion — and measuring on‑treatment dynamics.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“velocity” of PD‑L1 induction may outperform static levels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581912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concept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109728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“PD‑L1 positive vs negative” at baseline…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the tumor can *rapidly upregulate PD‑L1* after priming (a proxy for intact IFN responsiveness).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3492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246120"/>
            <a:ext cx="73152" cy="3063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velocity?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721608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PD‑L1 is inducible within days after immune activation.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fast rise suggests intact JAK/STAT + permissive chromatin.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flat line suggests interferon signaling bottlenecks (intrinsic resistance).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integrates multiple biological “gates” into one practical readout.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46120"/>
            <a:ext cx="53492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246120"/>
            <a:ext cx="73152" cy="3063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 (adaptive care)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721608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early on‑treatment assessment (~3 weeks), the framework proposes: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ICI in rapid inducers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 ICI early in sluggish/flat inducers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“gray-zone” protocols (repeat biopsy or serial blood markers)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PD‑L1 kinetics: two patients, same baseline, different trajectories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shown in the white paper (numbers illustrative):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22960" y="1417320"/>
          <a:ext cx="7589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686800" y="1417320"/>
            <a:ext cx="29260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1540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15400" y="1965960"/>
            <a:ext cx="2606040" cy="1145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CPS = 0.</a:t>
            </a:r>
            <a:endParaRPr lang="en-US" sz="1300" dirty="0"/>
          </a:p>
          <a:p>
            <a:pPr marL="148590" indent="-14859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inducer rises ~0.6 CPS/cycle.</a:t>
            </a:r>
            <a:endParaRPr lang="en-US" sz="1300" dirty="0"/>
          </a:p>
          <a:p>
            <a:pPr marL="148590" indent="-14859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 inducer rises ~0.2 CPS/cycle.</a:t>
            </a:r>
            <a:endParaRPr lang="en-US" sz="1300" dirty="0"/>
          </a:p>
          <a:p>
            <a:pPr marL="148590" indent="-14859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hypothesis: outcomes diverge despite similar absolute values.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15400" y="5303520"/>
            <a:ext cx="265176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052560" y="5596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ΔCPS/cycle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early decision algorithm (adaptive stop/continue rule)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664208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106070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691640"/>
            <a:ext cx="4114800" cy="822960"/>
          </a:xfrm>
          <a:prstGeom prst="roundRect">
            <a:avLst/>
          </a:prstGeom>
          <a:solidFill>
            <a:srgbClr val="E6F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7592" y="2103120"/>
            <a:ext cx="3785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immune priming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PD‑1 blockade)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834640"/>
            <a:ext cx="4114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944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07592" y="3246120"/>
            <a:ext cx="3785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on‑treatment assessment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~day 15–21 (biopsy or blood)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4069080"/>
            <a:ext cx="4114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4480560"/>
            <a:ext cx="3785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PD‑L1 induction velocity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ΔCPS / cycle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3560" y="1920240"/>
            <a:ext cx="553212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0299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inducer (≥ 0.5)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88152" y="2331720"/>
            <a:ext cx="5202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/ intensify ICI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(competent IFN response)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3063240"/>
            <a:ext cx="553212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1729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zone (0.3–0.5)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88152" y="3474720"/>
            <a:ext cx="5202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at cycle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serial liquid markers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23560" y="4206240"/>
            <a:ext cx="553212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43159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 / flat (≤ 0.3)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88152" y="4617720"/>
            <a:ext cx="5202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ICI early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alternatives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2514600"/>
            <a:ext cx="0" cy="3200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00400" y="3749040"/>
            <a:ext cx="0" cy="3200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257800" y="24003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57800" y="35433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57800" y="46863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22960" y="63093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goal: avoid months of ineffective ICI in predicted non-responders; concentrate exposure in “rapid inducers.”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development: what must be solved to make “velocity” clinical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challenges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5349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PD‑L1 CPS has inter-observer variability; subtraction amplifies error.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Tumor heterogeneity means biopsy site matters.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Timing: earlier is better for decisions, but biology may vary (day 14 vs day 42).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proposed: central read, standardized assay, digital image analysis, and exploratory multi-timepoint sampling.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52120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234440"/>
            <a:ext cx="73152" cy="2651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371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alternatives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1709928"/>
            <a:ext cx="4892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patients have accessible lesions. The paper notes blood-based surrogates (e.g., interferon-stimulated gene signatures in ctDNA or related liquid markers) as potential complements—requiring validation against tissue CPS.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0690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069080"/>
            <a:ext cx="73152" cy="2240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062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caveats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544568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may be necessary but not sufficient: other resistance modes (antigen presentation defects, T‑cell exclusion, myeloid suppression) can still dominate. Thresholds (0.3/0.5) are provisional until prospective datasets mature.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mTNBC: a general pattern for “primer + checkpoint” combinations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10972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4173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situation: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“primer” is intended to convert cold tumors to hot—creating the target (checkpoint axis) that the ICI blocks.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Velocity-based readouts can serve as the early “did the primer work?” test.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6692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20440"/>
            <a:ext cx="73152" cy="27889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may apply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95928"/>
            <a:ext cx="5349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Microsatellite-stable colorectal cancer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Pancreatic ductal adenocarcinoma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Ovarian cancer subtypes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setting where baseline checkpoint expression is low, but inducible.)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520440"/>
            <a:ext cx="52120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520440"/>
            <a:ext cx="73152" cy="2788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57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 modalities (examples)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995928"/>
            <a:ext cx="4892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Immunogenic chemo / ADCs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Radiation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Oncolytic viruses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PRR agonists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 ICD inducers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measured could extend beyond PD‑1/PD‑L1 (e.g., LAG‑3).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0352"/>
            <a:ext cx="12191695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Closing: what to test next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1463040" cy="310896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412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10972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2743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messages to leave with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10652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Baseline PD‑L1 negativity may not mean “no checkpoint biology.”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 primer+ICI combos, early *kinetics* can be the better selector than baseline status.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 single early assessment can support adaptive stop/continue decisions — but thresholds must be validated prospectively.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972800" cy="2103120"/>
          </a:xfrm>
          <a:prstGeom prst="roundRect">
            <a:avLst/>
          </a:prstGeom>
          <a:solidFill>
            <a:srgbClr val="07162B"/>
          </a:solidFill>
          <a:ln w="12700">
            <a:solidFill>
              <a:srgbClr val="071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34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analyses (for NCT05318469 correlative program)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800600"/>
            <a:ext cx="10058400" cy="120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ΔCPS per cycle (baseline → cycle 1/2) for all participants.</a:t>
            </a:r>
            <a:endParaRPr lang="en-US" sz="1400" dirty="0"/>
          </a:p>
          <a:p>
            <a:pPr marL="160020" indent="-16002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velocity with response, PFS, OS, and immune infiltrates.</a:t>
            </a:r>
            <a:endParaRPr lang="en-US" sz="1400" dirty="0"/>
          </a:p>
          <a:p>
            <a:pPr marL="160020" indent="-16002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assay error and pick practical cutpoints.</a:t>
            </a:r>
            <a:endParaRPr lang="en-US" sz="1400" dirty="0"/>
          </a:p>
          <a:p>
            <a:pPr marL="160020" indent="-16002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liquid surrogates when tissue is inaccessible.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18585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Dynamic PD-L1 kinetics after immune priming</dc:subject>
  <dc:creator>Generated by ChatGPT</dc:creator>
  <cp:lastModifiedBy>Generated by ChatGPT</cp:lastModifiedBy>
  <cp:revision>1</cp:revision>
  <dcterms:created xsi:type="dcterms:W3CDTF">2026-02-27T20:47:50Z</dcterms:created>
  <dcterms:modified xsi:type="dcterms:W3CDTF">2026-02-27T20:47:50Z</dcterms:modified>
</cp:coreProperties>
</file>